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20"/>
  </p:notesMasterIdLst>
  <p:sldIdLst>
    <p:sldId id="256" r:id="rId2"/>
    <p:sldId id="259" r:id="rId3"/>
    <p:sldId id="258" r:id="rId4"/>
    <p:sldId id="266" r:id="rId5"/>
    <p:sldId id="267" r:id="rId6"/>
    <p:sldId id="270" r:id="rId7"/>
    <p:sldId id="271" r:id="rId8"/>
    <p:sldId id="268" r:id="rId9"/>
    <p:sldId id="273" r:id="rId10"/>
    <p:sldId id="274" r:id="rId11"/>
    <p:sldId id="276" r:id="rId12"/>
    <p:sldId id="275" r:id="rId13"/>
    <p:sldId id="280" r:id="rId14"/>
    <p:sldId id="272" r:id="rId15"/>
    <p:sldId id="277" r:id="rId16"/>
    <p:sldId id="278" r:id="rId17"/>
    <p:sldId id="279" r:id="rId18"/>
    <p:sldId id="260" r:id="rId19"/>
  </p:sldIdLst>
  <p:sldSz cx="9144000" cy="5143500" type="screen16x9"/>
  <p:notesSz cx="6858000" cy="9144000"/>
  <p:embeddedFontLst>
    <p:embeddedFont>
      <p:font typeface="Montserrat" pitchFamily="2" charset="77"/>
      <p:regular r:id="rId21"/>
      <p:bold r:id="rId22"/>
      <p:italic r:id="rId23"/>
      <p:boldItalic r:id="rId24"/>
    </p:embeddedFont>
    <p:embeddedFont>
      <p:font typeface="Open Sans" panose="020B0606030504020204" pitchFamily="34" charset="0"/>
      <p:regular r:id="rId25"/>
      <p:bold r:id="rId26"/>
      <p:italic r:id="rId27"/>
      <p:boldItalic r:id="rId28"/>
    </p:embeddedFont>
    <p:embeddedFont>
      <p:font typeface="Open Sans Medium" pitchFamily="2" charset="0"/>
      <p:regular r:id="rId29"/>
      <p:bold r:id="rId30"/>
      <p:italic r:id="rId31"/>
      <p:boldItalic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300"/>
    <a:srgbClr val="5959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4" d="100"/>
          <a:sy n="154" d="100"/>
        </p:scale>
        <p:origin x="888" y="19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font" Target="fonts/font12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font" Target="fonts/font10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274e2f6385f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274e2f6385f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274e2f6385f_0_1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274e2f6385f_0_1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274e2f6385f_0_1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274e2f6385f_0_1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00CD1DDB-BF56-64FC-945E-F97520FA79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274e2f6385f_0_173:notes">
            <a:extLst>
              <a:ext uri="{FF2B5EF4-FFF2-40B4-BE49-F238E27FC236}">
                <a16:creationId xmlns:a16="http://schemas.microsoft.com/office/drawing/2014/main" id="{E5414B0F-B6D3-30E9-2171-6BDED91DA72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274e2f6385f_0_173:notes">
            <a:extLst>
              <a:ext uri="{FF2B5EF4-FFF2-40B4-BE49-F238E27FC236}">
                <a16:creationId xmlns:a16="http://schemas.microsoft.com/office/drawing/2014/main" id="{CCF8D0B9-41AB-371F-EFC5-44B31C128E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563165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E35F320D-6F29-9FCF-1BCF-B3F87C0FB6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274e2f6385f_0_173:notes">
            <a:extLst>
              <a:ext uri="{FF2B5EF4-FFF2-40B4-BE49-F238E27FC236}">
                <a16:creationId xmlns:a16="http://schemas.microsoft.com/office/drawing/2014/main" id="{D2AAB640-0D11-CC12-9BB7-B345DED4A3C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274e2f6385f_0_173:notes">
            <a:extLst>
              <a:ext uri="{FF2B5EF4-FFF2-40B4-BE49-F238E27FC236}">
                <a16:creationId xmlns:a16="http://schemas.microsoft.com/office/drawing/2014/main" id="{CAD3AF1A-940E-BFBF-55C1-8D9E251783C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8723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C6E45E10-5717-C40C-C504-DF37390C1D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274e2f6385f_0_173:notes">
            <a:extLst>
              <a:ext uri="{FF2B5EF4-FFF2-40B4-BE49-F238E27FC236}">
                <a16:creationId xmlns:a16="http://schemas.microsoft.com/office/drawing/2014/main" id="{1B6D9B85-156A-2C06-53B8-20267EBCF79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274e2f6385f_0_173:notes">
            <a:extLst>
              <a:ext uri="{FF2B5EF4-FFF2-40B4-BE49-F238E27FC236}">
                <a16:creationId xmlns:a16="http://schemas.microsoft.com/office/drawing/2014/main" id="{1317A835-0E33-B020-2EDA-3BE43CEFD6E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452374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873E5B94-AD3F-49EA-2582-255A34C1DF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274e2f6385f_0_173:notes">
            <a:extLst>
              <a:ext uri="{FF2B5EF4-FFF2-40B4-BE49-F238E27FC236}">
                <a16:creationId xmlns:a16="http://schemas.microsoft.com/office/drawing/2014/main" id="{9D3DFF72-B650-0FD9-F647-56DA00B696C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274e2f6385f_0_173:notes">
            <a:extLst>
              <a:ext uri="{FF2B5EF4-FFF2-40B4-BE49-F238E27FC236}">
                <a16:creationId xmlns:a16="http://schemas.microsoft.com/office/drawing/2014/main" id="{55B9469A-5270-A3C7-19A2-4CEFB7ADE22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21134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>
          <a:extLst>
            <a:ext uri="{FF2B5EF4-FFF2-40B4-BE49-F238E27FC236}">
              <a16:creationId xmlns:a16="http://schemas.microsoft.com/office/drawing/2014/main" id="{A5BFA401-8CEC-02FB-37EB-047AFA2F5F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274e2f6385f_0_191:notes">
            <a:extLst>
              <a:ext uri="{FF2B5EF4-FFF2-40B4-BE49-F238E27FC236}">
                <a16:creationId xmlns:a16="http://schemas.microsoft.com/office/drawing/2014/main" id="{F8754069-6BFC-ED12-8F9F-0CE71BB8507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274e2f6385f_0_191:notes">
            <a:extLst>
              <a:ext uri="{FF2B5EF4-FFF2-40B4-BE49-F238E27FC236}">
                <a16:creationId xmlns:a16="http://schemas.microsoft.com/office/drawing/2014/main" id="{6CC18A49-2F79-ADFF-9AAC-BE574E390A1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455350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4DB25C31-D53F-FE4B-415B-A85F19F984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274e2f6385f_0_173:notes">
            <a:extLst>
              <a:ext uri="{FF2B5EF4-FFF2-40B4-BE49-F238E27FC236}">
                <a16:creationId xmlns:a16="http://schemas.microsoft.com/office/drawing/2014/main" id="{EDB473F9-F547-936C-80C0-BF0EF7E0281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274e2f6385f_0_173:notes">
            <a:extLst>
              <a:ext uri="{FF2B5EF4-FFF2-40B4-BE49-F238E27FC236}">
                <a16:creationId xmlns:a16="http://schemas.microsoft.com/office/drawing/2014/main" id="{B591F9A5-BEC3-ED2E-20F9-9B217123418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4214688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18AE6289-33D0-4019-C38A-DC72D202FF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274e2f6385f_0_173:notes">
            <a:extLst>
              <a:ext uri="{FF2B5EF4-FFF2-40B4-BE49-F238E27FC236}">
                <a16:creationId xmlns:a16="http://schemas.microsoft.com/office/drawing/2014/main" id="{01BEC010-9036-7811-5C56-DBC5D01452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274e2f6385f_0_173:notes">
            <a:extLst>
              <a:ext uri="{FF2B5EF4-FFF2-40B4-BE49-F238E27FC236}">
                <a16:creationId xmlns:a16="http://schemas.microsoft.com/office/drawing/2014/main" id="{772A712F-2870-4FF7-03B2-68FDE2BF323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9084143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81C3A8F8-BDAB-B3D4-E461-F81543E471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274e2f6385f_0_173:notes">
            <a:extLst>
              <a:ext uri="{FF2B5EF4-FFF2-40B4-BE49-F238E27FC236}">
                <a16:creationId xmlns:a16="http://schemas.microsoft.com/office/drawing/2014/main" id="{C1AFECC1-5193-B894-AD32-002F4B61FC5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274e2f6385f_0_173:notes">
            <a:extLst>
              <a:ext uri="{FF2B5EF4-FFF2-40B4-BE49-F238E27FC236}">
                <a16:creationId xmlns:a16="http://schemas.microsoft.com/office/drawing/2014/main" id="{8E118A11-4C50-A2A7-9883-1F7DDD1D1E9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029271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B37D9AA7-45E8-553A-CA9A-E14A8DB062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274e2f6385f_0_173:notes">
            <a:extLst>
              <a:ext uri="{FF2B5EF4-FFF2-40B4-BE49-F238E27FC236}">
                <a16:creationId xmlns:a16="http://schemas.microsoft.com/office/drawing/2014/main" id="{9EF3B90D-F203-FE40-B3CF-0DD97967D4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274e2f6385f_0_173:notes">
            <a:extLst>
              <a:ext uri="{FF2B5EF4-FFF2-40B4-BE49-F238E27FC236}">
                <a16:creationId xmlns:a16="http://schemas.microsoft.com/office/drawing/2014/main" id="{5D02D987-5BAD-025C-D8B0-62CAE29D4E4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7238849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042A3379-F30E-B7CD-6A54-86969FC61C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274e2f6385f_0_173:notes">
            <a:extLst>
              <a:ext uri="{FF2B5EF4-FFF2-40B4-BE49-F238E27FC236}">
                <a16:creationId xmlns:a16="http://schemas.microsoft.com/office/drawing/2014/main" id="{4C450771-CC44-D77F-4AB4-1A7ED4724F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274e2f6385f_0_173:notes">
            <a:extLst>
              <a:ext uri="{FF2B5EF4-FFF2-40B4-BE49-F238E27FC236}">
                <a16:creationId xmlns:a16="http://schemas.microsoft.com/office/drawing/2014/main" id="{95D1E943-FAFC-81C7-83B6-E6EE2116CA8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5730140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>
          <a:extLst>
            <a:ext uri="{FF2B5EF4-FFF2-40B4-BE49-F238E27FC236}">
              <a16:creationId xmlns:a16="http://schemas.microsoft.com/office/drawing/2014/main" id="{497619DE-9214-7909-692F-433E1A1207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274e2f6385f_0_191:notes">
            <a:extLst>
              <a:ext uri="{FF2B5EF4-FFF2-40B4-BE49-F238E27FC236}">
                <a16:creationId xmlns:a16="http://schemas.microsoft.com/office/drawing/2014/main" id="{039A98ED-8B02-CAB1-BD99-5BC5C9D57C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274e2f6385f_0_191:notes">
            <a:extLst>
              <a:ext uri="{FF2B5EF4-FFF2-40B4-BE49-F238E27FC236}">
                <a16:creationId xmlns:a16="http://schemas.microsoft.com/office/drawing/2014/main" id="{60C7D0A2-7965-6EE9-9A9B-19CB38DB87B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6571213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7CCB960D-3B6F-FF67-66F0-A722144CDF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274e2f6385f_0_173:notes">
            <a:extLst>
              <a:ext uri="{FF2B5EF4-FFF2-40B4-BE49-F238E27FC236}">
                <a16:creationId xmlns:a16="http://schemas.microsoft.com/office/drawing/2014/main" id="{915D6CD4-5D9D-2089-FEFB-12FA08AA92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274e2f6385f_0_173:notes">
            <a:extLst>
              <a:ext uri="{FF2B5EF4-FFF2-40B4-BE49-F238E27FC236}">
                <a16:creationId xmlns:a16="http://schemas.microsoft.com/office/drawing/2014/main" id="{A8B20E89-1E2E-D7CE-4AA4-1DC69A7A1B7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4901462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>
          <a:extLst>
            <a:ext uri="{FF2B5EF4-FFF2-40B4-BE49-F238E27FC236}">
              <a16:creationId xmlns:a16="http://schemas.microsoft.com/office/drawing/2014/main" id="{E1B7B96E-DAC3-33EE-8CB9-0102CF0EFC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274e2f6385f_0_191:notes">
            <a:extLst>
              <a:ext uri="{FF2B5EF4-FFF2-40B4-BE49-F238E27FC236}">
                <a16:creationId xmlns:a16="http://schemas.microsoft.com/office/drawing/2014/main" id="{85A5AC34-6BA8-BAFB-3A6F-1417D2DE517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274e2f6385f_0_191:notes">
            <a:extLst>
              <a:ext uri="{FF2B5EF4-FFF2-40B4-BE49-F238E27FC236}">
                <a16:creationId xmlns:a16="http://schemas.microsoft.com/office/drawing/2014/main" id="{7D6BCC74-1300-143F-C708-069C7070DD1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663028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F6446340-38F6-3828-E0F8-5B7ED6F6FA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274e2f6385f_0_173:notes">
            <a:extLst>
              <a:ext uri="{FF2B5EF4-FFF2-40B4-BE49-F238E27FC236}">
                <a16:creationId xmlns:a16="http://schemas.microsoft.com/office/drawing/2014/main" id="{1475B678-E4E1-6563-501C-8658EC51877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274e2f6385f_0_173:notes">
            <a:extLst>
              <a:ext uri="{FF2B5EF4-FFF2-40B4-BE49-F238E27FC236}">
                <a16:creationId xmlns:a16="http://schemas.microsoft.com/office/drawing/2014/main" id="{99F82629-575C-2F30-0DFF-DEC8FA27C97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2278018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01a900e350_0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01a900e350_0_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Dark" type="title">
  <p:cSld name="TITLE"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title"/>
          </p:nvPr>
        </p:nvSpPr>
        <p:spPr>
          <a:xfrm>
            <a:off x="483275" y="1823600"/>
            <a:ext cx="7923000" cy="176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Open Sans Medium"/>
              <a:buNone/>
              <a:defRPr sz="3600" b="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lvl="1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Open Sans Medium"/>
              <a:buNone/>
              <a:defRPr sz="3600" b="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2pPr>
            <a:lvl3pPr lvl="2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Open Sans Medium"/>
              <a:buNone/>
              <a:defRPr sz="3600" b="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3pPr>
            <a:lvl4pPr lvl="3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Open Sans Medium"/>
              <a:buNone/>
              <a:defRPr sz="3600" b="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4pPr>
            <a:lvl5pPr lvl="4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Open Sans Medium"/>
              <a:buNone/>
              <a:defRPr sz="3600" b="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5pPr>
            <a:lvl6pPr lvl="5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Open Sans Medium"/>
              <a:buNone/>
              <a:defRPr sz="3600" b="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6pPr>
            <a:lvl7pPr lvl="6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Open Sans Medium"/>
              <a:buNone/>
              <a:defRPr sz="3600" b="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7pPr>
            <a:lvl8pPr lvl="7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Open Sans Medium"/>
              <a:buNone/>
              <a:defRPr sz="3600" b="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8pPr>
            <a:lvl9pPr lvl="8" rtl="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3600"/>
              <a:buFont typeface="Open Sans Medium"/>
              <a:buNone/>
              <a:defRPr sz="3600" b="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title" idx="2"/>
          </p:nvPr>
        </p:nvSpPr>
        <p:spPr>
          <a:xfrm>
            <a:off x="483275" y="3588500"/>
            <a:ext cx="79230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0">
                <a:solidFill>
                  <a:schemeClr val="accent2"/>
                </a:solidFill>
              </a:defRPr>
            </a:lvl1pPr>
            <a:lvl2pPr lvl="1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0">
                <a:solidFill>
                  <a:schemeClr val="accent2"/>
                </a:solidFill>
              </a:defRPr>
            </a:lvl2pPr>
            <a:lvl3pPr lvl="2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0">
                <a:solidFill>
                  <a:schemeClr val="accent2"/>
                </a:solidFill>
              </a:defRPr>
            </a:lvl3pPr>
            <a:lvl4pPr lvl="3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0">
                <a:solidFill>
                  <a:schemeClr val="accent2"/>
                </a:solidFill>
              </a:defRPr>
            </a:lvl4pPr>
            <a:lvl5pPr lvl="4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0">
                <a:solidFill>
                  <a:schemeClr val="accent2"/>
                </a:solidFill>
              </a:defRPr>
            </a:lvl5pPr>
            <a:lvl6pPr lvl="5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0">
                <a:solidFill>
                  <a:schemeClr val="accent2"/>
                </a:solidFill>
              </a:defRPr>
            </a:lvl6pPr>
            <a:lvl7pPr lvl="6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0">
                <a:solidFill>
                  <a:schemeClr val="accent2"/>
                </a:solidFill>
              </a:defRPr>
            </a:lvl7pPr>
            <a:lvl8pPr lvl="7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0">
                <a:solidFill>
                  <a:schemeClr val="accent2"/>
                </a:solidFill>
              </a:defRPr>
            </a:lvl8pPr>
            <a:lvl9pPr lvl="8" rtl="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accent2"/>
              </a:buClr>
              <a:buSzPts val="2800"/>
              <a:buNone/>
              <a:defRPr b="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-5700" y="0"/>
            <a:ext cx="9155400" cy="91800"/>
          </a:xfrm>
          <a:prstGeom prst="rect">
            <a:avLst/>
          </a:prstGeom>
          <a:gradFill>
            <a:gsLst>
              <a:gs pos="0">
                <a:schemeClr val="accent1"/>
              </a:gs>
              <a:gs pos="50000">
                <a:schemeClr val="accent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00750" y="684151"/>
            <a:ext cx="3706100" cy="1074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3696FCBD-A161-2E8B-143F-ADC87F6F281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3420992" y="-147234"/>
            <a:ext cx="5437968" cy="271898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Light Small Image 1 1">
  <p:cSld name="CUSTOM_1_1_1_1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>
            <a:spLocks noGrp="1"/>
          </p:cNvSpPr>
          <p:nvPr>
            <p:ph type="pic" idx="2"/>
          </p:nvPr>
        </p:nvSpPr>
        <p:spPr>
          <a:xfrm>
            <a:off x="4881500" y="96525"/>
            <a:ext cx="4265700" cy="5046900"/>
          </a:xfrm>
          <a:prstGeom prst="rect">
            <a:avLst/>
          </a:prstGeom>
          <a:noFill/>
          <a:ln>
            <a:noFill/>
          </a:ln>
        </p:spPr>
      </p:sp>
      <p:sp>
        <p:nvSpPr>
          <p:cNvPr id="27" name="Google Shape;27;p5"/>
          <p:cNvSpPr/>
          <p:nvPr/>
        </p:nvSpPr>
        <p:spPr>
          <a:xfrm>
            <a:off x="-5700" y="0"/>
            <a:ext cx="9155400" cy="91800"/>
          </a:xfrm>
          <a:prstGeom prst="rect">
            <a:avLst/>
          </a:prstGeom>
          <a:gradFill>
            <a:gsLst>
              <a:gs pos="0">
                <a:schemeClr val="accent1"/>
              </a:gs>
              <a:gs pos="50000">
                <a:schemeClr val="accent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8" name="Google Shape;28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02350" y="4631725"/>
            <a:ext cx="1228525" cy="35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5"/>
          <p:cNvSpPr/>
          <p:nvPr/>
        </p:nvSpPr>
        <p:spPr>
          <a:xfrm>
            <a:off x="4577400" y="90325"/>
            <a:ext cx="4570500" cy="5053200"/>
          </a:xfrm>
          <a:prstGeom prst="rect">
            <a:avLst/>
          </a:prstGeom>
          <a:gradFill>
            <a:gsLst>
              <a:gs pos="0">
                <a:schemeClr val="accent1"/>
              </a:gs>
              <a:gs pos="0">
                <a:schemeClr val="accent2"/>
              </a:gs>
              <a:gs pos="100000">
                <a:srgbClr val="0B5394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0" name="Google Shape;30;p5"/>
          <p:cNvSpPr txBox="1">
            <a:spLocks noGrp="1"/>
          </p:cNvSpPr>
          <p:nvPr>
            <p:ph type="body" idx="1"/>
          </p:nvPr>
        </p:nvSpPr>
        <p:spPr>
          <a:xfrm>
            <a:off x="4904250" y="493800"/>
            <a:ext cx="3916800" cy="415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title"/>
          </p:nvPr>
        </p:nvSpPr>
        <p:spPr>
          <a:xfrm>
            <a:off x="364425" y="1689300"/>
            <a:ext cx="3970800" cy="176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Open Sans Medium"/>
              <a:buNone/>
              <a:defRPr sz="3600" b="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Open Sans Medium"/>
              <a:buNone/>
              <a:defRPr sz="3600" b="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Open Sans Medium"/>
              <a:buNone/>
              <a:defRPr sz="3600" b="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Open Sans Medium"/>
              <a:buNone/>
              <a:defRPr sz="3600" b="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Open Sans Medium"/>
              <a:buNone/>
              <a:defRPr sz="3600" b="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Open Sans Medium"/>
              <a:buNone/>
              <a:defRPr sz="3600" b="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Open Sans Medium"/>
              <a:buNone/>
              <a:defRPr sz="3600" b="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Open Sans Medium"/>
              <a:buNone/>
              <a:defRPr sz="3600" b="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3600"/>
              <a:buFont typeface="Open Sans Medium"/>
              <a:buNone/>
              <a:defRPr sz="3600" b="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Light">
  <p:cSld name="SECTION_HEADER_2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Font typeface="Open Sans Medium"/>
              <a:buNone/>
              <a:defRPr sz="3600" b="0"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Font typeface="Open Sans Medium"/>
              <a:buNone/>
              <a:defRPr sz="3600" b="0">
                <a:latin typeface="Open Sans Medium"/>
                <a:ea typeface="Open Sans Medium"/>
                <a:cs typeface="Open Sans Medium"/>
                <a:sym typeface="Open Sans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Font typeface="Open Sans Medium"/>
              <a:buNone/>
              <a:defRPr sz="3600" b="0">
                <a:latin typeface="Open Sans Medium"/>
                <a:ea typeface="Open Sans Medium"/>
                <a:cs typeface="Open Sans Medium"/>
                <a:sym typeface="Open Sans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Font typeface="Open Sans Medium"/>
              <a:buNone/>
              <a:defRPr sz="3600" b="0">
                <a:latin typeface="Open Sans Medium"/>
                <a:ea typeface="Open Sans Medium"/>
                <a:cs typeface="Open Sans Medium"/>
                <a:sym typeface="Open Sans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Font typeface="Open Sans Medium"/>
              <a:buNone/>
              <a:defRPr sz="3600" b="0">
                <a:latin typeface="Open Sans Medium"/>
                <a:ea typeface="Open Sans Medium"/>
                <a:cs typeface="Open Sans Medium"/>
                <a:sym typeface="Open Sans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Font typeface="Open Sans Medium"/>
              <a:buNone/>
              <a:defRPr sz="3600" b="0">
                <a:latin typeface="Open Sans Medium"/>
                <a:ea typeface="Open Sans Medium"/>
                <a:cs typeface="Open Sans Medium"/>
                <a:sym typeface="Open Sans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Font typeface="Open Sans Medium"/>
              <a:buNone/>
              <a:defRPr sz="3600" b="0">
                <a:latin typeface="Open Sans Medium"/>
                <a:ea typeface="Open Sans Medium"/>
                <a:cs typeface="Open Sans Medium"/>
                <a:sym typeface="Open Sans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Font typeface="Open Sans Medium"/>
              <a:buNone/>
              <a:defRPr sz="3600" b="0">
                <a:latin typeface="Open Sans Medium"/>
                <a:ea typeface="Open Sans Medium"/>
                <a:cs typeface="Open Sans Medium"/>
                <a:sym typeface="Open Sans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Font typeface="Open Sans Medium"/>
              <a:buNone/>
              <a:defRPr sz="3600" b="0">
                <a:latin typeface="Open Sans Medium"/>
                <a:ea typeface="Open Sans Medium"/>
                <a:cs typeface="Open Sans Medium"/>
                <a:sym typeface="Open Sans Medium"/>
              </a:defRPr>
            </a:lvl9pPr>
          </a:lstStyle>
          <a:p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" name="Google Shape;35;p6"/>
          <p:cNvSpPr/>
          <p:nvPr/>
        </p:nvSpPr>
        <p:spPr>
          <a:xfrm>
            <a:off x="-5700" y="0"/>
            <a:ext cx="9155400" cy="91800"/>
          </a:xfrm>
          <a:prstGeom prst="rect">
            <a:avLst/>
          </a:prstGeom>
          <a:gradFill>
            <a:gsLst>
              <a:gs pos="0">
                <a:schemeClr val="accent1"/>
              </a:gs>
              <a:gs pos="50000">
                <a:schemeClr val="accent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6" name="Google Shape;36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02350" y="4631725"/>
            <a:ext cx="1228525" cy="35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4486AC0-34CD-BA9C-0CF7-834B7D265A4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7140626" y="4311324"/>
            <a:ext cx="1984390" cy="99219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Dark">
  <p:cSld name="SECTION_HEADER_2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696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9" name="Google Shape;39;p7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Open Sans Medium"/>
              <a:buNone/>
              <a:defRPr sz="3600" b="0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Open Sans Medium"/>
              <a:buNone/>
              <a:defRPr sz="3600" b="0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Open Sans Medium"/>
              <a:buNone/>
              <a:defRPr sz="3600" b="0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Open Sans Medium"/>
              <a:buNone/>
              <a:defRPr sz="3600" b="0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Open Sans Medium"/>
              <a:buNone/>
              <a:defRPr sz="3600" b="0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Open Sans Medium"/>
              <a:buNone/>
              <a:defRPr sz="3600" b="0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Open Sans Medium"/>
              <a:buNone/>
              <a:defRPr sz="3600" b="0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Open Sans Medium"/>
              <a:buNone/>
              <a:defRPr sz="3600" b="0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Open Sans Medium"/>
              <a:buNone/>
              <a:defRPr sz="3600" b="0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1" name="Google Shape;41;p7"/>
          <p:cNvSpPr/>
          <p:nvPr/>
        </p:nvSpPr>
        <p:spPr>
          <a:xfrm>
            <a:off x="-5700" y="0"/>
            <a:ext cx="9155400" cy="91800"/>
          </a:xfrm>
          <a:prstGeom prst="rect">
            <a:avLst/>
          </a:prstGeom>
          <a:gradFill>
            <a:gsLst>
              <a:gs pos="0">
                <a:schemeClr val="accent1"/>
              </a:gs>
              <a:gs pos="50000">
                <a:schemeClr val="accent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2" name="Google Shape;42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2350" y="4631709"/>
            <a:ext cx="1228525" cy="356265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2000EAD8-3C8F-2CB5-970D-07FCB4FE457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7140626" y="4311324"/>
            <a:ext cx="1984391" cy="99219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 Column" type="tx">
  <p:cSld name="TITLE_AND_BOD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6" name="Google Shape;46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7" name="Google Shape;47;p8"/>
          <p:cNvSpPr/>
          <p:nvPr/>
        </p:nvSpPr>
        <p:spPr>
          <a:xfrm>
            <a:off x="-5700" y="0"/>
            <a:ext cx="9155400" cy="91800"/>
          </a:xfrm>
          <a:prstGeom prst="rect">
            <a:avLst/>
          </a:prstGeom>
          <a:gradFill>
            <a:gsLst>
              <a:gs pos="0">
                <a:schemeClr val="accent1"/>
              </a:gs>
              <a:gs pos="50000">
                <a:schemeClr val="accent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8" name="Google Shape;48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02350" y="4631725"/>
            <a:ext cx="1228525" cy="35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EAA3432-A2F1-E1D8-8B5F-6F15E2718D0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7140626" y="4311324"/>
            <a:ext cx="1984390" cy="99219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3" name="Google Shape;63;p11"/>
          <p:cNvSpPr/>
          <p:nvPr/>
        </p:nvSpPr>
        <p:spPr>
          <a:xfrm>
            <a:off x="-5700" y="0"/>
            <a:ext cx="9155400" cy="91800"/>
          </a:xfrm>
          <a:prstGeom prst="rect">
            <a:avLst/>
          </a:prstGeom>
          <a:gradFill>
            <a:gsLst>
              <a:gs pos="0">
                <a:schemeClr val="accent1"/>
              </a:gs>
              <a:gs pos="50000">
                <a:schemeClr val="accent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Open Sans Medium"/>
              <a:buNone/>
              <a:defRPr sz="2800">
                <a:solidFill>
                  <a:schemeClr val="accent2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Open Sans Medium"/>
              <a:buNone/>
              <a:defRPr sz="2800">
                <a:solidFill>
                  <a:schemeClr val="accent2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Open Sans Medium"/>
              <a:buNone/>
              <a:defRPr sz="2800">
                <a:solidFill>
                  <a:schemeClr val="accent2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Open Sans Medium"/>
              <a:buNone/>
              <a:defRPr sz="2800">
                <a:solidFill>
                  <a:schemeClr val="accent2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Open Sans Medium"/>
              <a:buNone/>
              <a:defRPr sz="2800">
                <a:solidFill>
                  <a:schemeClr val="accent2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Open Sans Medium"/>
              <a:buNone/>
              <a:defRPr sz="2800">
                <a:solidFill>
                  <a:schemeClr val="accent2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Open Sans Medium"/>
              <a:buNone/>
              <a:defRPr sz="2800">
                <a:solidFill>
                  <a:schemeClr val="accent2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Open Sans Medium"/>
              <a:buNone/>
              <a:defRPr sz="2800">
                <a:solidFill>
                  <a:schemeClr val="accent2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Open Sans Medium"/>
              <a:buNone/>
              <a:defRPr sz="2800">
                <a:solidFill>
                  <a:schemeClr val="accent2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800">
                <a:solidFill>
                  <a:schemeClr val="dk2"/>
                </a:solidFill>
              </a:defRPr>
            </a:lvl1pPr>
            <a:lvl2pPr lvl="1" algn="r">
              <a:buNone/>
              <a:defRPr sz="800">
                <a:solidFill>
                  <a:schemeClr val="dk2"/>
                </a:solidFill>
              </a:defRPr>
            </a:lvl2pPr>
            <a:lvl3pPr lvl="2" algn="r">
              <a:buNone/>
              <a:defRPr sz="800">
                <a:solidFill>
                  <a:schemeClr val="dk2"/>
                </a:solidFill>
              </a:defRPr>
            </a:lvl3pPr>
            <a:lvl4pPr lvl="3" algn="r">
              <a:buNone/>
              <a:defRPr sz="800">
                <a:solidFill>
                  <a:schemeClr val="dk2"/>
                </a:solidFill>
              </a:defRPr>
            </a:lvl4pPr>
            <a:lvl5pPr lvl="4" algn="r">
              <a:buNone/>
              <a:defRPr sz="800">
                <a:solidFill>
                  <a:schemeClr val="dk2"/>
                </a:solidFill>
              </a:defRPr>
            </a:lvl5pPr>
            <a:lvl6pPr lvl="5" algn="r">
              <a:buNone/>
              <a:defRPr sz="800">
                <a:solidFill>
                  <a:schemeClr val="dk2"/>
                </a:solidFill>
              </a:defRPr>
            </a:lvl6pPr>
            <a:lvl7pPr lvl="6" algn="r">
              <a:buNone/>
              <a:defRPr sz="800">
                <a:solidFill>
                  <a:schemeClr val="dk2"/>
                </a:solidFill>
              </a:defRPr>
            </a:lvl7pPr>
            <a:lvl8pPr lvl="7" algn="r">
              <a:buNone/>
              <a:defRPr sz="800">
                <a:solidFill>
                  <a:schemeClr val="dk2"/>
                </a:solidFill>
              </a:defRPr>
            </a:lvl8pPr>
            <a:lvl9pPr lvl="8" algn="r">
              <a:buNone/>
              <a:defRPr sz="8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2" r:id="rId3"/>
    <p:sldLayoutId id="2147483653" r:id="rId4"/>
    <p:sldLayoutId id="2147483654" r:id="rId5"/>
    <p:sldLayoutId id="2147483657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chapel-lang/TSC/issues/26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hpsf.io/blog/2025/chapel-2-7-released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hyperlink" Target="https://chapel-lang.org/presentations/#hpsfcon2026" TargetMode="External"/><Relationship Id="rId5" Type="http://schemas.openxmlformats.org/officeDocument/2006/relationships/hyperlink" Target="https://hpsf.io/blog/2026/chapel-2-9-released/" TargetMode="External"/><Relationship Id="rId4" Type="http://schemas.openxmlformats.org/officeDocument/2006/relationships/hyperlink" Target="https://hpsf.io/blog/2026/chapel-2-8-released/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chapel-lang.org/blog/posts/cff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6" Type="http://schemas.openxmlformats.org/officeDocument/2006/relationships/hyperlink" Target="https://chapel.discourse.group/c/newsletters/24" TargetMode="External"/><Relationship Id="rId5" Type="http://schemas.openxmlformats.org/officeDocument/2006/relationships/hyperlink" Target="https://chapel-lang.org/blog/series/release-announcements/" TargetMode="External"/><Relationship Id="rId4" Type="http://schemas.openxmlformats.org/officeDocument/2006/relationships/hyperlink" Target="https://chapel-lang.org/news/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chapel-lang/TSC/issues/21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chapel-lang/chapel?tab=coc-ov-file#contributor-covenant-code-of-conduct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5" Type="http://schemas.openxmlformats.org/officeDocument/2006/relationships/hyperlink" Target="https://openprofile.dev/" TargetMode="External"/><Relationship Id="rId4" Type="http://schemas.openxmlformats.org/officeDocument/2006/relationships/hyperlink" Target="https://github.com/chapel-lang/governance/blob/main/TechCharter.pdf" TargetMode="Externa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4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Chapel TSC Meeting</a:t>
            </a:r>
            <a:br>
              <a:rPr lang="en-US" dirty="0"/>
            </a:br>
            <a:r>
              <a:rPr lang="en-US"/>
              <a:t>August 27, 2026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7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Recap of past ~8 months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When we last met (December 11, 2025)</a:t>
            </a:r>
            <a:endParaRPr dirty="0"/>
          </a:p>
        </p:txBody>
      </p:sp>
      <p:sp>
        <p:nvSpPr>
          <p:cNvPr id="89" name="Google Shape;89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285750" indent="-285750">
              <a:spcAft>
                <a:spcPts val="400"/>
              </a:spcAft>
            </a:pPr>
            <a:r>
              <a:rPr lang="en-US" dirty="0"/>
              <a:t>Had accepted the new HPSF-developed Chapel logo with some reservations</a:t>
            </a:r>
          </a:p>
          <a:p>
            <a:pPr marL="742950" lvl="1" indent="-285750">
              <a:spcAft>
                <a:spcPts val="400"/>
              </a:spcAft>
            </a:pPr>
            <a:r>
              <a:rPr lang="en-US" dirty="0"/>
              <a:t>Also had some thoughts on improving it (see </a:t>
            </a:r>
            <a:r>
              <a:rPr lang="en-US" dirty="0">
                <a:hlinkClick r:id="rId3"/>
              </a:rPr>
              <a:t>#26</a:t>
            </a:r>
            <a:r>
              <a:rPr lang="en-US" dirty="0"/>
              <a:t>)</a:t>
            </a:r>
          </a:p>
          <a:p>
            <a:pPr marL="742950" lvl="1" indent="-285750">
              <a:spcAft>
                <a:spcPts val="400"/>
              </a:spcAft>
            </a:pPr>
            <a:r>
              <a:rPr lang="en-US" dirty="0"/>
              <a:t>But insufficient consensus and/or time to act on these ideas, so far</a:t>
            </a:r>
          </a:p>
          <a:p>
            <a:pPr marL="285750" indent="-285750">
              <a:spcAft>
                <a:spcPts val="400"/>
              </a:spcAft>
            </a:pPr>
            <a:endParaRPr lang="en-US" dirty="0"/>
          </a:p>
          <a:p>
            <a:pPr marL="285750" indent="-285750">
              <a:spcAft>
                <a:spcPts val="400"/>
              </a:spcAft>
            </a:pPr>
            <a:r>
              <a:rPr lang="en-US" dirty="0"/>
              <a:t>Had publicly announced having become an HPSF/LF project</a:t>
            </a:r>
          </a:p>
          <a:p>
            <a:pPr marL="285750" indent="-285750">
              <a:spcAft>
                <a:spcPts val="400"/>
              </a:spcAft>
            </a:pPr>
            <a:endParaRPr lang="en-US" dirty="0"/>
          </a:p>
          <a:p>
            <a:pPr marL="285750" indent="-285750">
              <a:spcAft>
                <a:spcPts val="400"/>
              </a:spcAft>
            </a:pPr>
            <a:r>
              <a:rPr lang="en-US" dirty="0"/>
              <a:t>Had launched a Chapel Slack workspace with a private TSC channel</a:t>
            </a:r>
          </a:p>
          <a:p>
            <a:pPr marL="742950" lvl="1" indent="-285750">
              <a:spcAft>
                <a:spcPts val="400"/>
              </a:spcAft>
            </a:pPr>
            <a:r>
              <a:rPr lang="en-US" dirty="0"/>
              <a:t>Have since made the workspace public, with public channels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>
          <a:extLst>
            <a:ext uri="{FF2B5EF4-FFF2-40B4-BE49-F238E27FC236}">
              <a16:creationId xmlns:a16="http://schemas.microsoft.com/office/drawing/2014/main" id="{096043E5-AF56-D793-ED19-05B89A8249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6">
            <a:extLst>
              <a:ext uri="{FF2B5EF4-FFF2-40B4-BE49-F238E27FC236}">
                <a16:creationId xmlns:a16="http://schemas.microsoft.com/office/drawing/2014/main" id="{FB30260B-289B-E4AE-9C95-4023FD2D095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HPSF-related actions since then…</a:t>
            </a:r>
            <a:endParaRPr dirty="0"/>
          </a:p>
        </p:txBody>
      </p:sp>
      <p:sp>
        <p:nvSpPr>
          <p:cNvPr id="89" name="Google Shape;89;p16">
            <a:extLst>
              <a:ext uri="{FF2B5EF4-FFF2-40B4-BE49-F238E27FC236}">
                <a16:creationId xmlns:a16="http://schemas.microsoft.com/office/drawing/2014/main" id="{0C878722-FC73-1A75-91B3-D8F759ED487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08850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indent="-285750">
              <a:spcAft>
                <a:spcPts val="400"/>
              </a:spcAft>
            </a:pPr>
            <a:r>
              <a:rPr lang="en-US" dirty="0"/>
              <a:t>Voted to confirm Brad as Chapel TSC chair and HPSF TAC representative</a:t>
            </a:r>
          </a:p>
          <a:p>
            <a:pPr marL="742950" lvl="1" indent="-285750">
              <a:spcAft>
                <a:spcPts val="400"/>
              </a:spcAft>
            </a:pPr>
            <a:r>
              <a:rPr lang="en-US" dirty="0"/>
              <a:t>Nobody else expressed interest in the position this time around</a:t>
            </a:r>
          </a:p>
          <a:p>
            <a:pPr marL="742950" lvl="1" indent="-285750">
              <a:spcAft>
                <a:spcPts val="400"/>
              </a:spcAft>
            </a:pPr>
            <a:r>
              <a:rPr lang="en-US" dirty="0"/>
              <a:t>Have participated regularly in HPSF TAC meetings and votes since then</a:t>
            </a:r>
          </a:p>
          <a:p>
            <a:pPr marL="285750" indent="-285750">
              <a:spcAft>
                <a:spcPts val="400"/>
              </a:spcAft>
            </a:pPr>
            <a:r>
              <a:rPr lang="en-US" dirty="0"/>
              <a:t>Announced our recent Chapel releases jointly with HPSF on their blog</a:t>
            </a:r>
          </a:p>
          <a:p>
            <a:pPr marL="742950" lvl="1" indent="-285750">
              <a:spcAft>
                <a:spcPts val="400"/>
              </a:spcAft>
            </a:pPr>
            <a:r>
              <a:rPr lang="en-US" dirty="0">
                <a:hlinkClick r:id="rId3"/>
              </a:rPr>
              <a:t>Chapel 2.7</a:t>
            </a:r>
            <a:endParaRPr lang="en-US" dirty="0"/>
          </a:p>
          <a:p>
            <a:pPr marL="742950" lvl="1" indent="-285750">
              <a:spcAft>
                <a:spcPts val="400"/>
              </a:spcAft>
            </a:pPr>
            <a:r>
              <a:rPr lang="en-US" dirty="0">
                <a:hlinkClick r:id="rId4"/>
              </a:rPr>
              <a:t>Chapel 2.8</a:t>
            </a:r>
            <a:endParaRPr lang="en-US" dirty="0"/>
          </a:p>
          <a:p>
            <a:pPr marL="742950" lvl="1" indent="-285750">
              <a:spcAft>
                <a:spcPts val="400"/>
              </a:spcAft>
            </a:pPr>
            <a:r>
              <a:rPr lang="en-US" dirty="0">
                <a:hlinkClick r:id="rId5"/>
              </a:rPr>
              <a:t>Chapel 2.9</a:t>
            </a:r>
            <a:endParaRPr lang="en-US" dirty="0"/>
          </a:p>
          <a:p>
            <a:pPr marL="285750" indent="-285750">
              <a:spcAft>
                <a:spcPts val="400"/>
              </a:spcAft>
            </a:pPr>
            <a:r>
              <a:rPr lang="en-US" dirty="0"/>
              <a:t>Engin, Jade, and Daniel made a strong showing at HPSFCon</a:t>
            </a:r>
          </a:p>
          <a:p>
            <a:pPr marL="742950" lvl="1" indent="-285750">
              <a:spcAft>
                <a:spcPts val="400"/>
              </a:spcAft>
            </a:pPr>
            <a:r>
              <a:rPr lang="en-US" dirty="0"/>
              <a:t>8 talks and a panel presentation:  </a:t>
            </a:r>
            <a:r>
              <a:rPr lang="en-US" dirty="0">
                <a:hlinkClick r:id="rId6"/>
              </a:rPr>
              <a:t>https://chapel-lang.org/presentations/#hpsfcon2026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977244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>
          <a:extLst>
            <a:ext uri="{FF2B5EF4-FFF2-40B4-BE49-F238E27FC236}">
              <a16:creationId xmlns:a16="http://schemas.microsoft.com/office/drawing/2014/main" id="{EBE5FF50-9EAD-6E2D-1C6F-2EDF38EE71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6">
            <a:extLst>
              <a:ext uri="{FF2B5EF4-FFF2-40B4-BE49-F238E27FC236}">
                <a16:creationId xmlns:a16="http://schemas.microsoft.com/office/drawing/2014/main" id="{2A91F588-914F-9BA1-F18D-96EB26070F2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Where has the time gone?</a:t>
            </a:r>
            <a:endParaRPr dirty="0"/>
          </a:p>
        </p:txBody>
      </p:sp>
      <p:sp>
        <p:nvSpPr>
          <p:cNvPr id="89" name="Google Shape;89;p16">
            <a:extLst>
              <a:ext uri="{FF2B5EF4-FFF2-40B4-BE49-F238E27FC236}">
                <a16:creationId xmlns:a16="http://schemas.microsoft.com/office/drawing/2014/main" id="{2C71AD30-1CAC-7E18-65C8-7C964A8AC1D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61583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indent="-285750">
              <a:spcAft>
                <a:spcPts val="400"/>
              </a:spcAft>
            </a:pPr>
            <a:r>
              <a:rPr lang="en-US" dirty="0"/>
              <a:t>Lots of effort spent this year trying to find ways to keep the project funded</a:t>
            </a:r>
          </a:p>
          <a:p>
            <a:pPr marL="742950" lvl="1" indent="-285750">
              <a:spcAft>
                <a:spcPts val="400"/>
              </a:spcAft>
            </a:pPr>
            <a:r>
              <a:rPr lang="en-US" dirty="0"/>
              <a:t>Going into the year, we were aware that existing project funding was running out</a:t>
            </a:r>
          </a:p>
          <a:p>
            <a:pPr marL="742950" lvl="1" indent="-285750">
              <a:spcAft>
                <a:spcPts val="400"/>
              </a:spcAft>
            </a:pPr>
            <a:r>
              <a:rPr lang="en-US" dirty="0">
                <a:hlinkClick r:id="rId3"/>
              </a:rPr>
              <a:t>Announced this in April</a:t>
            </a:r>
            <a:r>
              <a:rPr lang="en-US" dirty="0"/>
              <a:t> in coordination with TSC, HPSF, HPE, key users</a:t>
            </a:r>
          </a:p>
          <a:p>
            <a:pPr marL="1200150" lvl="2" indent="-285750">
              <a:spcAft>
                <a:spcPts val="400"/>
              </a:spcAft>
            </a:pPr>
            <a:r>
              <a:rPr lang="en-US" dirty="0"/>
              <a:t>Goals: Identify potential new funding sources; give users an early heads-up </a:t>
            </a:r>
          </a:p>
          <a:p>
            <a:pPr marL="742950" lvl="1" indent="-285750">
              <a:spcAft>
                <a:spcPts val="400"/>
              </a:spcAft>
            </a:pPr>
            <a:r>
              <a:rPr lang="en-US" dirty="0"/>
              <a:t>Current status is that we have no funding after October</a:t>
            </a:r>
          </a:p>
          <a:p>
            <a:pPr marL="742950" lvl="1" indent="-285750">
              <a:spcAft>
                <a:spcPts val="400"/>
              </a:spcAft>
            </a:pPr>
            <a:r>
              <a:rPr lang="en-US" dirty="0"/>
              <a:t>Most recently, have been working to help find new positions for members of the project</a:t>
            </a:r>
          </a:p>
          <a:p>
            <a:pPr marL="285750" indent="-285750">
              <a:spcAft>
                <a:spcPts val="400"/>
              </a:spcAft>
            </a:pPr>
            <a:r>
              <a:rPr lang="en-US" dirty="0"/>
              <a:t>Beyond that, lots of really great technical work and outreach as well</a:t>
            </a:r>
          </a:p>
          <a:p>
            <a:pPr marL="742950" lvl="1" indent="-285750">
              <a:spcAft>
                <a:spcPts val="400"/>
              </a:spcAft>
            </a:pPr>
            <a:r>
              <a:rPr lang="en-US" dirty="0"/>
              <a:t>For highlights, see…</a:t>
            </a:r>
          </a:p>
          <a:p>
            <a:pPr marL="1200150" lvl="2" indent="-285750">
              <a:spcAft>
                <a:spcPts val="400"/>
              </a:spcAft>
            </a:pPr>
            <a:r>
              <a:rPr lang="en-US" dirty="0"/>
              <a:t>The website’s new </a:t>
            </a:r>
            <a:r>
              <a:rPr lang="en-US" dirty="0">
                <a:hlinkClick r:id="rId4"/>
              </a:rPr>
              <a:t>news page</a:t>
            </a:r>
            <a:endParaRPr lang="en-US" dirty="0"/>
          </a:p>
          <a:p>
            <a:pPr marL="1200150" lvl="2" indent="-285750">
              <a:spcAft>
                <a:spcPts val="400"/>
              </a:spcAft>
            </a:pPr>
            <a:r>
              <a:rPr lang="en-US" dirty="0"/>
              <a:t>Our recent </a:t>
            </a:r>
            <a:r>
              <a:rPr lang="en-US" dirty="0">
                <a:hlinkClick r:id="rId5"/>
              </a:rPr>
              <a:t>release announcements</a:t>
            </a:r>
            <a:r>
              <a:rPr lang="en-US" dirty="0"/>
              <a:t> on the blog</a:t>
            </a:r>
          </a:p>
          <a:p>
            <a:pPr marL="1200150" lvl="2" indent="-285750">
              <a:spcAft>
                <a:spcPts val="400"/>
              </a:spcAft>
            </a:pPr>
            <a:r>
              <a:rPr lang="en-US" dirty="0"/>
              <a:t>Our </a:t>
            </a:r>
            <a:r>
              <a:rPr lang="en-US" dirty="0">
                <a:hlinkClick r:id="rId6"/>
              </a:rPr>
              <a:t>quarterly newsletters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50332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>
          <a:extLst>
            <a:ext uri="{FF2B5EF4-FFF2-40B4-BE49-F238E27FC236}">
              <a16:creationId xmlns:a16="http://schemas.microsoft.com/office/drawing/2014/main" id="{C77D5AE6-E269-6584-E308-C5FC7BF6F5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6">
            <a:extLst>
              <a:ext uri="{FF2B5EF4-FFF2-40B4-BE49-F238E27FC236}">
                <a16:creationId xmlns:a16="http://schemas.microsoft.com/office/drawing/2014/main" id="{E0E03AA8-8160-0FED-321D-F8BE398E157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What happens once funding ends?</a:t>
            </a:r>
            <a:endParaRPr dirty="0"/>
          </a:p>
        </p:txBody>
      </p:sp>
      <p:sp>
        <p:nvSpPr>
          <p:cNvPr id="89" name="Google Shape;89;p16">
            <a:extLst>
              <a:ext uri="{FF2B5EF4-FFF2-40B4-BE49-F238E27FC236}">
                <a16:creationId xmlns:a16="http://schemas.microsoft.com/office/drawing/2014/main" id="{45D33017-7306-570A-2932-2044E2D25E6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3167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indent="-285750">
              <a:spcAft>
                <a:spcPts val="400"/>
              </a:spcAft>
            </a:pPr>
            <a:r>
              <a:rPr lang="en-US" dirty="0"/>
              <a:t>Not entirely clear at this point, though here is some data:</a:t>
            </a:r>
          </a:p>
          <a:p>
            <a:pPr marL="742950" lvl="1" indent="-285750">
              <a:spcAft>
                <a:spcPts val="400"/>
              </a:spcAft>
            </a:pPr>
            <a:r>
              <a:rPr lang="en-US" dirty="0"/>
              <a:t>Chapel doesn’t disappear: source will continue to exist and be useful/usable modulo bit rot</a:t>
            </a:r>
          </a:p>
          <a:p>
            <a:pPr marL="742950" lvl="1" indent="-285750">
              <a:spcAft>
                <a:spcPts val="400"/>
              </a:spcAft>
            </a:pPr>
            <a:r>
              <a:rPr lang="en-US" dirty="0"/>
              <a:t>As an HPSF/LF project, Chapel can continue as a community open-source project</a:t>
            </a:r>
          </a:p>
          <a:p>
            <a:pPr marL="742950" lvl="1" indent="-285750">
              <a:spcAft>
                <a:spcPts val="400"/>
              </a:spcAft>
            </a:pPr>
            <a:r>
              <a:rPr lang="en-US" dirty="0"/>
              <a:t>The TSC continues to govern the project as long as we have interest in doing so</a:t>
            </a:r>
          </a:p>
          <a:p>
            <a:pPr marL="742950" lvl="1" indent="-285750">
              <a:spcAft>
                <a:spcPts val="400"/>
              </a:spcAft>
            </a:pPr>
            <a:r>
              <a:rPr lang="en-US" dirty="0"/>
              <a:t>Some have expressed interest in continuing to contribute to the project in spare-time</a:t>
            </a:r>
          </a:p>
          <a:p>
            <a:pPr marL="1200150" lvl="2" indent="-285750">
              <a:spcAft>
                <a:spcPts val="400"/>
              </a:spcAft>
            </a:pPr>
            <a:r>
              <a:rPr lang="en-US" dirty="0"/>
              <a:t>Whether or not this happens in reality is TBD</a:t>
            </a:r>
          </a:p>
          <a:p>
            <a:pPr marL="285750" indent="-285750">
              <a:spcAft>
                <a:spcPts val="400"/>
              </a:spcAft>
            </a:pPr>
            <a:r>
              <a:rPr lang="en-US" dirty="0"/>
              <a:t>Spending a decent amount of effort trying to prepare for this:</a:t>
            </a:r>
          </a:p>
          <a:p>
            <a:pPr marL="742950" lvl="1" indent="-285750">
              <a:spcAft>
                <a:spcPts val="400"/>
              </a:spcAft>
            </a:pPr>
            <a:r>
              <a:rPr lang="en-US" dirty="0"/>
              <a:t>Moving as much of our nightly, internal-to-HPE testing to GitHub actions as possible</a:t>
            </a:r>
          </a:p>
          <a:p>
            <a:pPr marL="742950" lvl="1" indent="-285750">
              <a:spcAft>
                <a:spcPts val="400"/>
              </a:spcAft>
            </a:pPr>
            <a:r>
              <a:rPr lang="en-US" dirty="0"/>
              <a:t>Ensuring that key resources are accessible outside of HPE (docs, accounts, permissions, …)</a:t>
            </a:r>
          </a:p>
          <a:p>
            <a:pPr marL="742950" lvl="1" indent="-285750">
              <a:spcAft>
                <a:spcPts val="400"/>
              </a:spcAft>
            </a:pPr>
            <a:r>
              <a:rPr lang="en-US" dirty="0"/>
              <a:t>(Note: These are great things to do from an open-source maturity perspective in any case)</a:t>
            </a:r>
          </a:p>
        </p:txBody>
      </p:sp>
    </p:spTree>
    <p:extLst>
      <p:ext uri="{BB962C8B-B14F-4D97-AF65-F5344CB8AC3E}">
        <p14:creationId xmlns:p14="http://schemas.microsoft.com/office/powerpoint/2010/main" val="23974470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>
          <a:extLst>
            <a:ext uri="{FF2B5EF4-FFF2-40B4-BE49-F238E27FC236}">
              <a16:creationId xmlns:a16="http://schemas.microsoft.com/office/drawing/2014/main" id="{5E72B497-5100-FC86-4EAF-23B5E7C20A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6">
            <a:extLst>
              <a:ext uri="{FF2B5EF4-FFF2-40B4-BE49-F238E27FC236}">
                <a16:creationId xmlns:a16="http://schemas.microsoft.com/office/drawing/2014/main" id="{5511CFC2-A0B8-96F2-693A-A3B26BC7D81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What about longer term?</a:t>
            </a:r>
            <a:endParaRPr dirty="0"/>
          </a:p>
        </p:txBody>
      </p:sp>
      <p:sp>
        <p:nvSpPr>
          <p:cNvPr id="89" name="Google Shape;89;p16">
            <a:extLst>
              <a:ext uri="{FF2B5EF4-FFF2-40B4-BE49-F238E27FC236}">
                <a16:creationId xmlns:a16="http://schemas.microsoft.com/office/drawing/2014/main" id="{9D2C895B-61E3-E030-A89E-A19BE96548C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61583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indent="-285750">
              <a:spcAft>
                <a:spcPts val="400"/>
              </a:spcAft>
            </a:pPr>
            <a:r>
              <a:rPr lang="en-US" dirty="0"/>
              <a:t>Worst-case scenario: Development stops, TSC grinds to a halt</a:t>
            </a:r>
          </a:p>
          <a:p>
            <a:pPr marL="742950" lvl="1" indent="-285750">
              <a:spcAft>
                <a:spcPts val="400"/>
              </a:spcAft>
            </a:pPr>
            <a:r>
              <a:rPr lang="en-US" dirty="0"/>
              <a:t>In this event, HPSF has an “emeritus” classification for projects that have been retired</a:t>
            </a:r>
          </a:p>
          <a:p>
            <a:pPr marL="742950" lvl="1" indent="-285750">
              <a:spcAft>
                <a:spcPts val="400"/>
              </a:spcAft>
            </a:pPr>
            <a:r>
              <a:rPr lang="en-US" dirty="0"/>
              <a:t>I think of this as a last resort option rather than something to focus on immediately</a:t>
            </a:r>
          </a:p>
          <a:p>
            <a:pPr marL="742950" lvl="1" indent="-285750">
              <a:spcAft>
                <a:spcPts val="400"/>
              </a:spcAft>
            </a:pPr>
            <a:endParaRPr lang="en-US" sz="800" dirty="0"/>
          </a:p>
          <a:p>
            <a:pPr marL="285750" indent="-285750">
              <a:spcAft>
                <a:spcPts val="400"/>
              </a:spcAft>
            </a:pPr>
            <a:r>
              <a:rPr lang="en-US" dirty="0"/>
              <a:t>My current stance:</a:t>
            </a:r>
          </a:p>
          <a:p>
            <a:pPr marL="742950" lvl="1" indent="-285750">
              <a:spcAft>
                <a:spcPts val="400"/>
              </a:spcAft>
            </a:pPr>
            <a:r>
              <a:rPr lang="en-US" dirty="0"/>
              <a:t>Want to see what the reaction from user and community is in a post-funded world</a:t>
            </a:r>
          </a:p>
          <a:p>
            <a:pPr marL="1200150" lvl="2" indent="-285750">
              <a:spcAft>
                <a:spcPts val="400"/>
              </a:spcAft>
            </a:pPr>
            <a:r>
              <a:rPr lang="en-US" dirty="0"/>
              <a:t>e.g., have seen some interest in co-pursuing smaller funding opportunities</a:t>
            </a:r>
          </a:p>
          <a:p>
            <a:pPr marL="742950" lvl="1" indent="-285750">
              <a:spcAft>
                <a:spcPts val="400"/>
              </a:spcAft>
            </a:pPr>
            <a:r>
              <a:rPr lang="en-US" dirty="0"/>
              <a:t>Many open-source projects don’t have dedicated, long-term, paid staff like we’ve had</a:t>
            </a:r>
          </a:p>
          <a:p>
            <a:pPr marL="742950" lvl="1" indent="-285750">
              <a:spcAft>
                <a:spcPts val="400"/>
              </a:spcAft>
            </a:pPr>
            <a:r>
              <a:rPr lang="en-US" dirty="0"/>
              <a:t>Curious to see what level of effort is required to maintain status quo</a:t>
            </a:r>
          </a:p>
          <a:p>
            <a:pPr marL="1200150" lvl="2" indent="-285750">
              <a:spcAft>
                <a:spcPts val="400"/>
              </a:spcAft>
            </a:pPr>
            <a:r>
              <a:rPr lang="en-US" dirty="0"/>
              <a:t>e.g., try doing a 2.11 release in December, just to see what that’s like</a:t>
            </a:r>
          </a:p>
          <a:p>
            <a:pPr marL="742950" lvl="1" indent="-285750">
              <a:spcAft>
                <a:spcPts val="400"/>
              </a:spcAft>
            </a:pPr>
            <a:r>
              <a:rPr lang="en-US" dirty="0"/>
              <a:t>Considering what would be needed to advance to HPSF’s “core” level</a:t>
            </a:r>
          </a:p>
        </p:txBody>
      </p:sp>
    </p:spTree>
    <p:extLst>
      <p:ext uri="{BB962C8B-B14F-4D97-AF65-F5344CB8AC3E}">
        <p14:creationId xmlns:p14="http://schemas.microsoft.com/office/powerpoint/2010/main" val="32663183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>
          <a:extLst>
            <a:ext uri="{FF2B5EF4-FFF2-40B4-BE49-F238E27FC236}">
              <a16:creationId xmlns:a16="http://schemas.microsoft.com/office/drawing/2014/main" id="{4D270F7C-008F-6D1F-02B5-16FE4DAC76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7">
            <a:extLst>
              <a:ext uri="{FF2B5EF4-FFF2-40B4-BE49-F238E27FC236}">
                <a16:creationId xmlns:a16="http://schemas.microsoft.com/office/drawing/2014/main" id="{693472C3-FD90-6C18-B160-F3BA71A8FAB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Adding new members to the TSC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213929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>
          <a:extLst>
            <a:ext uri="{FF2B5EF4-FFF2-40B4-BE49-F238E27FC236}">
              <a16:creationId xmlns:a16="http://schemas.microsoft.com/office/drawing/2014/main" id="{2C836087-B577-92BB-B058-A9FAE36255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6">
            <a:extLst>
              <a:ext uri="{FF2B5EF4-FFF2-40B4-BE49-F238E27FC236}">
                <a16:creationId xmlns:a16="http://schemas.microsoft.com/office/drawing/2014/main" id="{C3C7FB72-6A21-EAC1-EA20-47618AAC8FF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Accepting new TSC members</a:t>
            </a:r>
            <a:endParaRPr dirty="0"/>
          </a:p>
        </p:txBody>
      </p:sp>
      <p:sp>
        <p:nvSpPr>
          <p:cNvPr id="89" name="Google Shape;89;p16">
            <a:extLst>
              <a:ext uri="{FF2B5EF4-FFF2-40B4-BE49-F238E27FC236}">
                <a16:creationId xmlns:a16="http://schemas.microsoft.com/office/drawing/2014/main" id="{01E01B83-0F02-CDEF-771B-0B4D66D5890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08850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indent="-285750">
              <a:spcAft>
                <a:spcPts val="400"/>
              </a:spcAft>
            </a:pPr>
            <a:r>
              <a:rPr lang="en-US" dirty="0"/>
              <a:t>We currently don’t have a well-defined way for people to join the TSC (</a:t>
            </a:r>
            <a:r>
              <a:rPr lang="en-US" dirty="0">
                <a:hlinkClick r:id="rId3"/>
              </a:rPr>
              <a:t>#21</a:t>
            </a:r>
            <a:r>
              <a:rPr lang="en-US" dirty="0"/>
              <a:t>)</a:t>
            </a:r>
          </a:p>
          <a:p>
            <a:pPr marL="742950" lvl="1" indent="-285750">
              <a:spcAft>
                <a:spcPts val="400"/>
              </a:spcAft>
            </a:pPr>
            <a:r>
              <a:rPr lang="en-US" dirty="0"/>
              <a:t>This seems important for the project’s long-term health</a:t>
            </a:r>
          </a:p>
          <a:p>
            <a:pPr marL="285750" indent="-285750">
              <a:spcAft>
                <a:spcPts val="400"/>
              </a:spcAft>
            </a:pPr>
            <a:r>
              <a:rPr lang="en-US" dirty="0"/>
              <a:t>Proposed approach:</a:t>
            </a:r>
          </a:p>
          <a:p>
            <a:pPr marL="742950" lvl="1" indent="-285750">
              <a:spcAft>
                <a:spcPts val="400"/>
              </a:spcAft>
            </a:pPr>
            <a:r>
              <a:rPr lang="en-US" dirty="0"/>
              <a:t>Have a GitHub issue template with questions for applicants to answer (see next slide)</a:t>
            </a:r>
          </a:p>
          <a:p>
            <a:pPr marL="742950" lvl="1" indent="-285750">
              <a:spcAft>
                <a:spcPts val="400"/>
              </a:spcAft>
            </a:pPr>
            <a:r>
              <a:rPr lang="en-US" dirty="0"/>
              <a:t>TSC reviews such issues and votes on whether to move forward with them or not</a:t>
            </a:r>
          </a:p>
          <a:p>
            <a:pPr marL="1200150" lvl="2" indent="-285750">
              <a:spcAft>
                <a:spcPts val="400"/>
              </a:spcAft>
            </a:pPr>
            <a:r>
              <a:rPr lang="en-US" dirty="0"/>
              <a:t>If not, provide feedback about how candidate can strengthen their case</a:t>
            </a:r>
          </a:p>
          <a:p>
            <a:pPr marL="742950" lvl="1" indent="-285750">
              <a:spcAft>
                <a:spcPts val="400"/>
              </a:spcAft>
            </a:pPr>
            <a:r>
              <a:rPr lang="en-US" dirty="0"/>
              <a:t>If so, invite candidate to introduce themselves and answer questions at TSC meeting</a:t>
            </a:r>
          </a:p>
          <a:p>
            <a:pPr marL="742950" lvl="1" indent="-285750">
              <a:spcAft>
                <a:spcPts val="400"/>
              </a:spcAft>
            </a:pPr>
            <a:r>
              <a:rPr lang="en-US" dirty="0"/>
              <a:t>Vote on accepting the candidate offline using </a:t>
            </a:r>
            <a:r>
              <a:rPr lang="en-US" dirty="0" err="1"/>
              <a:t>lfx</a:t>
            </a:r>
            <a:r>
              <a:rPr lang="en-US" dirty="0"/>
              <a:t> tools</a:t>
            </a:r>
          </a:p>
          <a:p>
            <a:pPr marL="285750" indent="-285750">
              <a:spcAft>
                <a:spcPts val="400"/>
              </a:spcAft>
            </a:pPr>
            <a:r>
              <a:rPr lang="en-US" dirty="0"/>
              <a:t>Any concerns or objections with this approach?</a:t>
            </a:r>
          </a:p>
        </p:txBody>
      </p:sp>
    </p:spTree>
    <p:extLst>
      <p:ext uri="{BB962C8B-B14F-4D97-AF65-F5344CB8AC3E}">
        <p14:creationId xmlns:p14="http://schemas.microsoft.com/office/powerpoint/2010/main" val="29571310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>
          <a:extLst>
            <a:ext uri="{FF2B5EF4-FFF2-40B4-BE49-F238E27FC236}">
              <a16:creationId xmlns:a16="http://schemas.microsoft.com/office/drawing/2014/main" id="{632CB201-DAC7-E404-FD7D-2219CD77C7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6">
            <a:extLst>
              <a:ext uri="{FF2B5EF4-FFF2-40B4-BE49-F238E27FC236}">
                <a16:creationId xmlns:a16="http://schemas.microsoft.com/office/drawing/2014/main" id="{5E192E58-43A9-AE1B-B8BD-66514046611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Application Questions for TSC Candidates</a:t>
            </a:r>
            <a:endParaRPr dirty="0"/>
          </a:p>
        </p:txBody>
      </p:sp>
      <p:sp>
        <p:nvSpPr>
          <p:cNvPr id="89" name="Google Shape;89;p16">
            <a:extLst>
              <a:ext uri="{FF2B5EF4-FFF2-40B4-BE49-F238E27FC236}">
                <a16:creationId xmlns:a16="http://schemas.microsoft.com/office/drawing/2014/main" id="{4F260E6E-3EE6-358F-8010-1969D1EC8FA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37012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73038" indent="-173038">
              <a:buNone/>
            </a:pPr>
            <a:r>
              <a:rPr lang="en-US" sz="1200" b="1" dirty="0"/>
              <a:t>Name:</a:t>
            </a:r>
          </a:p>
          <a:p>
            <a:pPr marL="173038" indent="-173038">
              <a:buNone/>
            </a:pPr>
            <a:r>
              <a:rPr lang="en-US" sz="1200" b="1" dirty="0"/>
              <a:t>Email:</a:t>
            </a:r>
          </a:p>
          <a:p>
            <a:pPr marL="173038" indent="-173038">
              <a:buNone/>
            </a:pPr>
            <a:r>
              <a:rPr lang="en-US" sz="1200" b="1" dirty="0"/>
              <a:t>GitHub username:</a:t>
            </a:r>
          </a:p>
          <a:p>
            <a:pPr marL="173038" indent="-173038">
              <a:buNone/>
            </a:pPr>
            <a:r>
              <a:rPr lang="en-US" sz="1200" b="1" dirty="0"/>
              <a:t>Affiliation(s):</a:t>
            </a:r>
            <a:r>
              <a:rPr lang="en-US" sz="1200" dirty="0"/>
              <a:t> (e.g., workplace(s), school(s), relevant professional groups)</a:t>
            </a:r>
          </a:p>
          <a:p>
            <a:pPr marL="173038" indent="-173038">
              <a:buNone/>
            </a:pPr>
            <a:r>
              <a:rPr lang="en-US" sz="1200" b="1" dirty="0"/>
              <a:t>Notable projects/products you’ve worked on:</a:t>
            </a:r>
            <a:r>
              <a:rPr lang="en-US" sz="1200" dirty="0"/>
              <a:t> (list names, links if possible)</a:t>
            </a:r>
          </a:p>
          <a:p>
            <a:pPr marL="173038" indent="-173038">
              <a:buNone/>
            </a:pPr>
            <a:r>
              <a:rPr lang="en-US" sz="1200" b="1" dirty="0"/>
              <a:t>History and experience with the Chapel language, project, and community:</a:t>
            </a:r>
            <a:r>
              <a:rPr lang="en-US" sz="1200" dirty="0"/>
              <a:t> (provide a paragraph or two summarizing your past involvement with Chapel)</a:t>
            </a:r>
          </a:p>
          <a:p>
            <a:pPr marL="173038" indent="-173038">
              <a:buNone/>
            </a:pPr>
            <a:r>
              <a:rPr lang="en-US" sz="1200" b="1" dirty="0"/>
              <a:t>Motivations for applying to the TSC: </a:t>
            </a:r>
            <a:r>
              <a:rPr lang="en-US" sz="1200" dirty="0"/>
              <a:t>(provide a paragraph or two explaining what you hope to bring to the TSC and what you hope to get out of it)</a:t>
            </a:r>
          </a:p>
          <a:p>
            <a:pPr marL="173038" indent="-173038">
              <a:buNone/>
            </a:pPr>
            <a:r>
              <a:rPr lang="en-US" sz="1200" b="1" dirty="0"/>
              <a:t>Advocate/Sponsor (optional):</a:t>
            </a:r>
            <a:r>
              <a:rPr lang="en-US" sz="1200" dirty="0"/>
              <a:t> (Is there someone on the TSC or in the Chapel community who knows you and is willing to advocate on your behalf?)</a:t>
            </a:r>
          </a:p>
          <a:p>
            <a:pPr marL="173038" indent="-173038">
              <a:buNone/>
            </a:pPr>
            <a:r>
              <a:rPr lang="en-US" sz="1200" b="1" dirty="0"/>
              <a:t>Disclosure of conflicts:</a:t>
            </a:r>
            <a:r>
              <a:rPr lang="en-US" sz="1200" dirty="0"/>
              <a:t> (Are there things that could prevent you from meeting the expectations for TSC members?  Are there things we should know for the sake of transparency?)</a:t>
            </a:r>
          </a:p>
          <a:p>
            <a:pPr marL="173038" indent="-173038">
              <a:buNone/>
            </a:pPr>
            <a:r>
              <a:rPr lang="en-US" sz="1200" b="1" dirty="0"/>
              <a:t>☐</a:t>
            </a:r>
            <a:r>
              <a:rPr lang="en-US" sz="1200" dirty="0"/>
              <a:t> </a:t>
            </a:r>
            <a:r>
              <a:rPr lang="en-US" sz="1200" b="1" dirty="0"/>
              <a:t>I have reviewed the expectations of TSC members and agree to them</a:t>
            </a:r>
          </a:p>
          <a:p>
            <a:pPr marL="173038" indent="-173038">
              <a:buNone/>
            </a:pPr>
            <a:r>
              <a:rPr lang="en-US" sz="1200" b="1" dirty="0"/>
              <a:t>☐</a:t>
            </a:r>
            <a:r>
              <a:rPr lang="en-US" sz="1200" dirty="0"/>
              <a:t> </a:t>
            </a:r>
            <a:r>
              <a:rPr lang="en-US" sz="1200" b="1" dirty="0"/>
              <a:t>I understand that TSC meetings currently take place during working hours in the US</a:t>
            </a:r>
          </a:p>
        </p:txBody>
      </p:sp>
    </p:spTree>
    <p:extLst>
      <p:ext uri="{BB962C8B-B14F-4D97-AF65-F5344CB8AC3E}">
        <p14:creationId xmlns:p14="http://schemas.microsoft.com/office/powerpoint/2010/main" val="4166725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>
          <a:extLst>
            <a:ext uri="{FF2B5EF4-FFF2-40B4-BE49-F238E27FC236}">
              <a16:creationId xmlns:a16="http://schemas.microsoft.com/office/drawing/2014/main" id="{323EF9BD-F543-7DF5-8A8D-6EB1FDEA0C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6">
            <a:extLst>
              <a:ext uri="{FF2B5EF4-FFF2-40B4-BE49-F238E27FC236}">
                <a16:creationId xmlns:a16="http://schemas.microsoft.com/office/drawing/2014/main" id="{3AE721CB-C919-1158-94B8-AFFA5BFCD76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Things that would strengthen a TSC application</a:t>
            </a:r>
            <a:endParaRPr dirty="0"/>
          </a:p>
        </p:txBody>
      </p:sp>
      <p:sp>
        <p:nvSpPr>
          <p:cNvPr id="89" name="Google Shape;89;p16">
            <a:extLst>
              <a:ext uri="{FF2B5EF4-FFF2-40B4-BE49-F238E27FC236}">
                <a16:creationId xmlns:a16="http://schemas.microsoft.com/office/drawing/2014/main" id="{0DA4ED80-5BBC-2B14-E9A1-E46AE4C8FD0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29933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indent="0">
              <a:buNone/>
            </a:pPr>
            <a:r>
              <a:rPr lang="en-US" sz="1600" b="1" dirty="0"/>
              <a:t>The following is a list of things we will consider and value in a TSC applicant, but it’s not exhaustive.  Please note that we don’t expect applicants to meet all of the following criteria, and will consider applications holistically:</a:t>
            </a:r>
          </a:p>
          <a:p>
            <a:pPr marL="230188" indent="-230188">
              <a:tabLst>
                <a:tab pos="625475" algn="l"/>
              </a:tabLst>
            </a:pPr>
            <a:r>
              <a:rPr lang="en-US" sz="1600" dirty="0"/>
              <a:t>uses of Chapel in applications</a:t>
            </a:r>
          </a:p>
          <a:p>
            <a:pPr marL="230188" indent="-230188">
              <a:tabLst>
                <a:tab pos="625475" algn="l"/>
              </a:tabLst>
            </a:pPr>
            <a:r>
              <a:rPr lang="en-US" sz="1600" dirty="0"/>
              <a:t>contributions to the Chapel community in the form of PRs (code, doc changes)</a:t>
            </a:r>
          </a:p>
          <a:p>
            <a:pPr marL="230188" indent="-230188">
              <a:tabLst>
                <a:tab pos="625475" algn="l"/>
              </a:tabLst>
            </a:pPr>
            <a:r>
              <a:rPr lang="en-US" sz="1600" dirty="0"/>
              <a:t>involvement in Chapel discussions and issues</a:t>
            </a:r>
          </a:p>
          <a:p>
            <a:pPr marL="230188" indent="-230188">
              <a:tabLst>
                <a:tab pos="625475" algn="l"/>
              </a:tabLst>
            </a:pPr>
            <a:r>
              <a:rPr lang="en-US" sz="1600" dirty="0"/>
              <a:t>organizing of, or participation in, Chapel community events (such as ChapelCon)</a:t>
            </a:r>
          </a:p>
          <a:p>
            <a:pPr marL="230188" indent="-230188">
              <a:tabLst>
                <a:tab pos="625475" algn="l"/>
              </a:tabLst>
            </a:pPr>
            <a:r>
              <a:rPr lang="en-US" sz="1600" dirty="0"/>
              <a:t>having publications, blog posts, or social media activity related to Chapel</a:t>
            </a:r>
          </a:p>
          <a:p>
            <a:pPr marL="230188" indent="-230188">
              <a:tabLst>
                <a:tab pos="625475" algn="l"/>
              </a:tabLst>
            </a:pPr>
            <a:r>
              <a:rPr lang="en-US" sz="1600" dirty="0"/>
              <a:t>providing funding to the Chapel project or other Chapel-related development efforts</a:t>
            </a:r>
          </a:p>
          <a:p>
            <a:pPr marL="230188" indent="-230188">
              <a:tabLst>
                <a:tab pos="625475" algn="l"/>
              </a:tabLst>
            </a:pPr>
            <a:r>
              <a:rPr lang="en-US" sz="1600" dirty="0"/>
              <a:t>unique perspectives, strengths, or experiences that you'd bring</a:t>
            </a:r>
          </a:p>
          <a:p>
            <a:pPr marL="230188" indent="-230188">
              <a:tabLst>
                <a:tab pos="625475" algn="l"/>
              </a:tabLst>
            </a:pPr>
            <a:r>
              <a:rPr lang="en-US" sz="1600" dirty="0"/>
              <a:t>other potential benefits to the project</a:t>
            </a:r>
          </a:p>
        </p:txBody>
      </p:sp>
    </p:spTree>
    <p:extLst>
      <p:ext uri="{BB962C8B-B14F-4D97-AF65-F5344CB8AC3E}">
        <p14:creationId xmlns:p14="http://schemas.microsoft.com/office/powerpoint/2010/main" val="4529905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>
          <a:extLst>
            <a:ext uri="{FF2B5EF4-FFF2-40B4-BE49-F238E27FC236}">
              <a16:creationId xmlns:a16="http://schemas.microsoft.com/office/drawing/2014/main" id="{CAAA01F6-D696-5D80-7D2C-1F291A323A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6">
            <a:extLst>
              <a:ext uri="{FF2B5EF4-FFF2-40B4-BE49-F238E27FC236}">
                <a16:creationId xmlns:a16="http://schemas.microsoft.com/office/drawing/2014/main" id="{3132D511-68A7-B578-EF7F-C2E0E3B212F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Expectations of TSC Members</a:t>
            </a:r>
            <a:endParaRPr dirty="0"/>
          </a:p>
        </p:txBody>
      </p:sp>
      <p:sp>
        <p:nvSpPr>
          <p:cNvPr id="89" name="Google Shape;89;p16">
            <a:extLst>
              <a:ext uri="{FF2B5EF4-FFF2-40B4-BE49-F238E27FC236}">
                <a16:creationId xmlns:a16="http://schemas.microsoft.com/office/drawing/2014/main" id="{2A23BC33-8B99-DD40-2F1F-15C9996FE52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07619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73038" indent="-165100">
              <a:spcAft>
                <a:spcPts val="400"/>
              </a:spcAft>
              <a:buNone/>
            </a:pPr>
            <a:r>
              <a:rPr lang="en-US" dirty="0"/>
              <a:t>TSC members are expected to help guide the Chapel project’s direction by…</a:t>
            </a:r>
          </a:p>
          <a:p>
            <a:pPr marL="230188" indent="-222250">
              <a:spcAft>
                <a:spcPts val="400"/>
              </a:spcAft>
              <a:buNone/>
            </a:pPr>
            <a:r>
              <a:rPr lang="en-US" sz="1600" dirty="0"/>
              <a:t>…participating in TSC activities such as meetings, discussions, and votes</a:t>
            </a:r>
          </a:p>
          <a:p>
            <a:pPr marL="230188" indent="-222250">
              <a:spcAft>
                <a:spcPts val="400"/>
              </a:spcAft>
              <a:buNone/>
            </a:pPr>
            <a:r>
              <a:rPr lang="en-US" sz="1600" dirty="0"/>
              <a:t>…seeking out and share opportunities to improve the project and grow the community over time</a:t>
            </a:r>
          </a:p>
          <a:p>
            <a:pPr marL="230188" indent="-222250">
              <a:spcAft>
                <a:spcPts val="400"/>
              </a:spcAft>
              <a:buNone/>
            </a:pPr>
            <a:r>
              <a:rPr lang="en-US" sz="1600" dirty="0"/>
              <a:t>…being guided by what they consider to be best for the Chapel language, its users, the Chapel project, the historical investment in it, and its success going forward</a:t>
            </a:r>
          </a:p>
          <a:p>
            <a:pPr marL="230188" indent="-222250">
              <a:spcAft>
                <a:spcPts val="400"/>
              </a:spcAft>
              <a:buNone/>
            </a:pPr>
            <a:r>
              <a:rPr lang="en-US" sz="1600" dirty="0"/>
              <a:t>…upholding Chapel’s </a:t>
            </a:r>
            <a:r>
              <a:rPr lang="en-US" sz="1600" dirty="0">
                <a:hlinkClick r:id="rId3"/>
              </a:rPr>
              <a:t>code of conduct</a:t>
            </a:r>
            <a:r>
              <a:rPr lang="en-US" sz="1600" dirty="0"/>
              <a:t> and being familiar with its </a:t>
            </a:r>
            <a:r>
              <a:rPr lang="en-US" sz="1600" dirty="0">
                <a:hlinkClick r:id="rId4"/>
              </a:rPr>
              <a:t>technical charter</a:t>
            </a:r>
            <a:endParaRPr lang="en-US" sz="1600" dirty="0"/>
          </a:p>
          <a:p>
            <a:pPr marL="230188" indent="-222250">
              <a:spcAft>
                <a:spcPts val="400"/>
              </a:spcAft>
              <a:buNone/>
            </a:pPr>
            <a:r>
              <a:rPr lang="en-US" sz="1600" dirty="0"/>
              <a:t>…maintaining an LFX </a:t>
            </a:r>
            <a:r>
              <a:rPr lang="en-US" sz="1600" dirty="0" err="1">
                <a:hlinkClick r:id="rId5"/>
              </a:rPr>
              <a:t>openprofile.dev</a:t>
            </a:r>
            <a:r>
              <a:rPr lang="en-US" sz="1600" dirty="0"/>
              <a:t> account for the sake of project voting and coordination</a:t>
            </a:r>
          </a:p>
        </p:txBody>
      </p:sp>
    </p:spTree>
    <p:extLst>
      <p:ext uri="{BB962C8B-B14F-4D97-AF65-F5344CB8AC3E}">
        <p14:creationId xmlns:p14="http://schemas.microsoft.com/office/powerpoint/2010/main" val="7628935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>
          <a:extLst>
            <a:ext uri="{FF2B5EF4-FFF2-40B4-BE49-F238E27FC236}">
              <a16:creationId xmlns:a16="http://schemas.microsoft.com/office/drawing/2014/main" id="{2C3167E7-3D50-A0DF-DF52-60A6940F26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6">
            <a:extLst>
              <a:ext uri="{FF2B5EF4-FFF2-40B4-BE49-F238E27FC236}">
                <a16:creationId xmlns:a16="http://schemas.microsoft.com/office/drawing/2014/main" id="{684370FB-7258-8E8E-EA5B-85683EB042D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Proposal</a:t>
            </a:r>
            <a:endParaRPr dirty="0"/>
          </a:p>
        </p:txBody>
      </p:sp>
      <p:sp>
        <p:nvSpPr>
          <p:cNvPr id="89" name="Google Shape;89;p16">
            <a:extLst>
              <a:ext uri="{FF2B5EF4-FFF2-40B4-BE49-F238E27FC236}">
                <a16:creationId xmlns:a16="http://schemas.microsoft.com/office/drawing/2014/main" id="{E460E554-9B92-643F-86ED-2F7BEA5C1A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256118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93688" indent="-285750">
              <a:spcAft>
                <a:spcPts val="400"/>
              </a:spcAft>
            </a:pPr>
            <a:r>
              <a:rPr lang="en-US" dirty="0"/>
              <a:t>Add the “expectations of TSC members” to our governance document</a:t>
            </a:r>
          </a:p>
          <a:p>
            <a:pPr marL="293688" indent="-285750">
              <a:spcAft>
                <a:spcPts val="400"/>
              </a:spcAft>
            </a:pPr>
            <a:r>
              <a:rPr lang="en-US" dirty="0"/>
              <a:t>Add a GitHub issue template with the application questions to the TSC repo</a:t>
            </a:r>
          </a:p>
          <a:p>
            <a:pPr marL="293688" indent="-285750">
              <a:spcAft>
                <a:spcPts val="400"/>
              </a:spcAft>
            </a:pPr>
            <a:r>
              <a:rPr lang="en-US" dirty="0"/>
              <a:t>Capture the ”things that would strengthen an application… somewhere</a:t>
            </a:r>
          </a:p>
          <a:p>
            <a:pPr marL="750888" lvl="1" indent="-285750">
              <a:spcAft>
                <a:spcPts val="400"/>
              </a:spcAft>
            </a:pPr>
            <a:r>
              <a:rPr lang="en-US" dirty="0"/>
              <a:t>As a comment in the header of the issue template?</a:t>
            </a:r>
          </a:p>
          <a:p>
            <a:pPr marL="750888" lvl="1" indent="-285750">
              <a:spcAft>
                <a:spcPts val="400"/>
              </a:spcAft>
            </a:pPr>
            <a:r>
              <a:rPr lang="en-US" dirty="0"/>
              <a:t>Somewhere in the governance or TSC repos?</a:t>
            </a:r>
          </a:p>
          <a:p>
            <a:pPr marL="293688" indent="-285750">
              <a:spcAft>
                <a:spcPts val="400"/>
              </a:spcAft>
            </a:pPr>
            <a:r>
              <a:rPr lang="en-US" dirty="0"/>
              <a:t>Call this done and see whether anyone steps up</a:t>
            </a:r>
          </a:p>
          <a:p>
            <a:pPr marL="750888" lvl="1" indent="-285750">
              <a:spcAft>
                <a:spcPts val="400"/>
              </a:spcAft>
            </a:pPr>
            <a:r>
              <a:rPr lang="en-US" dirty="0"/>
              <a:t>Mention to people who seem relevant/promising in conversations, organically</a:t>
            </a:r>
          </a:p>
        </p:txBody>
      </p:sp>
    </p:spTree>
    <p:extLst>
      <p:ext uri="{BB962C8B-B14F-4D97-AF65-F5344CB8AC3E}">
        <p14:creationId xmlns:p14="http://schemas.microsoft.com/office/powerpoint/2010/main" val="2141301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>
          <a:extLst>
            <a:ext uri="{FF2B5EF4-FFF2-40B4-BE49-F238E27FC236}">
              <a16:creationId xmlns:a16="http://schemas.microsoft.com/office/drawing/2014/main" id="{D2CFA93F-381A-2F57-51FE-526EF40A18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7">
            <a:extLst>
              <a:ext uri="{FF2B5EF4-FFF2-40B4-BE49-F238E27FC236}">
                <a16:creationId xmlns:a16="http://schemas.microsoft.com/office/drawing/2014/main" id="{0946FB1E-FDCB-7C9E-D050-65F1FA4C6BC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Cadence of TSC Meetings Going Forward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407932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>
          <a:extLst>
            <a:ext uri="{FF2B5EF4-FFF2-40B4-BE49-F238E27FC236}">
              <a16:creationId xmlns:a16="http://schemas.microsoft.com/office/drawing/2014/main" id="{D06BF027-0657-3A46-1D78-A5213C7FAD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6">
            <a:extLst>
              <a:ext uri="{FF2B5EF4-FFF2-40B4-BE49-F238E27FC236}">
                <a16:creationId xmlns:a16="http://schemas.microsoft.com/office/drawing/2014/main" id="{907B1D30-979F-F9E2-D306-345FB78BF3A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How often should we meet going forward?</a:t>
            </a:r>
            <a:endParaRPr dirty="0"/>
          </a:p>
        </p:txBody>
      </p:sp>
      <p:sp>
        <p:nvSpPr>
          <p:cNvPr id="89" name="Google Shape;89;p16">
            <a:extLst>
              <a:ext uri="{FF2B5EF4-FFF2-40B4-BE49-F238E27FC236}">
                <a16:creationId xmlns:a16="http://schemas.microsoft.com/office/drawing/2014/main" id="{74B40D96-DCDC-9232-C955-A3D18224AAD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21418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73038" indent="-165100">
              <a:spcAft>
                <a:spcPts val="400"/>
              </a:spcAft>
              <a:buNone/>
            </a:pPr>
            <a:r>
              <a:rPr lang="en-US" dirty="0"/>
              <a:t>Proposal:</a:t>
            </a:r>
          </a:p>
          <a:p>
            <a:pPr marL="173038" indent="-165100">
              <a:spcAft>
                <a:spcPts val="400"/>
              </a:spcAft>
              <a:buNone/>
            </a:pPr>
            <a:endParaRPr lang="en-US" sz="800" dirty="0"/>
          </a:p>
          <a:p>
            <a:pPr marL="173038" indent="-165100">
              <a:spcAft>
                <a:spcPts val="400"/>
              </a:spcAft>
              <a:buNone/>
            </a:pPr>
            <a:r>
              <a:rPr lang="en-US" dirty="0"/>
              <a:t>1) Add GitHub issue template for TSC meeting topics, choosing between:</a:t>
            </a:r>
          </a:p>
          <a:p>
            <a:pPr marL="750888" lvl="1" indent="-285750">
              <a:spcAft>
                <a:spcPts val="400"/>
              </a:spcAft>
            </a:pPr>
            <a:r>
              <a:rPr lang="en-US" dirty="0"/>
              <a:t>“At the next regularly scheduled TSC meeting, I’d like to discuss…”</a:t>
            </a:r>
          </a:p>
          <a:p>
            <a:pPr marL="750888" lvl="1" indent="-285750">
              <a:spcAft>
                <a:spcPts val="400"/>
              </a:spcAft>
            </a:pPr>
            <a:r>
              <a:rPr lang="en-US" dirty="0"/>
              <a:t>“I’d like to call a TSC meeting to discuss…”</a:t>
            </a:r>
          </a:p>
          <a:p>
            <a:pPr marL="293688" indent="-285750">
              <a:spcAft>
                <a:spcPts val="400"/>
              </a:spcAft>
            </a:pPr>
            <a:endParaRPr lang="en-US" sz="800" dirty="0"/>
          </a:p>
          <a:p>
            <a:pPr marL="287338" indent="-279400">
              <a:spcAft>
                <a:spcPts val="400"/>
              </a:spcAft>
              <a:buNone/>
            </a:pPr>
            <a:r>
              <a:rPr lang="en-US" dirty="0"/>
              <a:t>2) We meet ‘min(n months, when someone files a ‘call a TSC meeting’ issue that’s either self-evidently worth calling a meeting for or the TSC agrees is worth meeting for)</a:t>
            </a:r>
          </a:p>
          <a:p>
            <a:pPr marL="465138" lvl="1" indent="0">
              <a:spcAft>
                <a:spcPts val="400"/>
              </a:spcAft>
              <a:buNone/>
            </a:pPr>
            <a:r>
              <a:rPr lang="en-US" dirty="0"/>
              <a:t>where n = 3 or 6?</a:t>
            </a:r>
          </a:p>
        </p:txBody>
      </p:sp>
    </p:spTree>
    <p:extLst>
      <p:ext uri="{BB962C8B-B14F-4D97-AF65-F5344CB8AC3E}">
        <p14:creationId xmlns:p14="http://schemas.microsoft.com/office/powerpoint/2010/main" val="29614414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>
          <a:extLst>
            <a:ext uri="{FF2B5EF4-FFF2-40B4-BE49-F238E27FC236}">
              <a16:creationId xmlns:a16="http://schemas.microsoft.com/office/drawing/2014/main" id="{8A3F048C-8EB6-8123-2453-330B3CA4CC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7">
            <a:extLst>
              <a:ext uri="{FF2B5EF4-FFF2-40B4-BE49-F238E27FC236}">
                <a16:creationId xmlns:a16="http://schemas.microsoft.com/office/drawing/2014/main" id="{9BD7C3C9-8B8E-B472-B4A0-C152645FE75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HPSF Core-Level Requirements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261960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>
          <a:extLst>
            <a:ext uri="{FF2B5EF4-FFF2-40B4-BE49-F238E27FC236}">
              <a16:creationId xmlns:a16="http://schemas.microsoft.com/office/drawing/2014/main" id="{8EC94E86-CD26-83D1-D455-300AC18637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6">
            <a:extLst>
              <a:ext uri="{FF2B5EF4-FFF2-40B4-BE49-F238E27FC236}">
                <a16:creationId xmlns:a16="http://schemas.microsoft.com/office/drawing/2014/main" id="{DBABDF78-B82C-17D7-2FE6-E21C2FD758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Requirements for HPSF Core Level</a:t>
            </a:r>
            <a:endParaRPr dirty="0"/>
          </a:p>
        </p:txBody>
      </p:sp>
      <p:sp>
        <p:nvSpPr>
          <p:cNvPr id="89" name="Google Shape;89;p16">
            <a:extLst>
              <a:ext uri="{FF2B5EF4-FFF2-40B4-BE49-F238E27FC236}">
                <a16:creationId xmlns:a16="http://schemas.microsoft.com/office/drawing/2014/main" id="{1BF55D60-296E-F9FA-E8D8-278F0385DAF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04080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93688" indent="-285750">
              <a:spcAft>
                <a:spcPts val="400"/>
              </a:spcAft>
            </a:pPr>
            <a:r>
              <a:rPr lang="en-US" dirty="0"/>
              <a:t>governing body of 4+ members, </a:t>
            </a:r>
            <a:r>
              <a:rPr lang="en-US" dirty="0">
                <a:solidFill>
                  <a:srgbClr val="FF0000"/>
                </a:solidFill>
              </a:rPr>
              <a:t>with no more than 50% at any employer</a:t>
            </a:r>
          </a:p>
          <a:p>
            <a:pPr marL="293688" indent="-285750">
              <a:spcAft>
                <a:spcPts val="400"/>
              </a:spcAft>
            </a:pPr>
            <a:r>
              <a:rPr lang="en-US" dirty="0"/>
              <a:t>documented public governance, decision-making, and </a:t>
            </a:r>
            <a:r>
              <a:rPr lang="en-US" dirty="0">
                <a:solidFill>
                  <a:srgbClr val="FF0000"/>
                </a:solidFill>
              </a:rPr>
              <a:t>release processes</a:t>
            </a:r>
          </a:p>
          <a:p>
            <a:pPr marL="293688" indent="-285750">
              <a:spcAft>
                <a:spcPts val="400"/>
              </a:spcAft>
            </a:pPr>
            <a:r>
              <a:rPr lang="en-US" dirty="0">
                <a:solidFill>
                  <a:srgbClr val="595959"/>
                </a:solidFill>
              </a:rPr>
              <a:t>healthy</a:t>
            </a:r>
            <a:r>
              <a:rPr lang="en-US" dirty="0"/>
              <a:t> number of contributors (mergers) </a:t>
            </a:r>
            <a:r>
              <a:rPr lang="en-US" dirty="0">
                <a:solidFill>
                  <a:schemeClr val="accent3"/>
                </a:solidFill>
              </a:rPr>
              <a:t>from at least two organizations</a:t>
            </a:r>
          </a:p>
          <a:p>
            <a:pPr marL="293688" indent="-285750">
              <a:spcAft>
                <a:spcPts val="400"/>
              </a:spcAft>
            </a:pPr>
            <a:r>
              <a:rPr lang="en-US" dirty="0">
                <a:solidFill>
                  <a:srgbClr val="FF0000"/>
                </a:solidFill>
              </a:rPr>
              <a:t>explicitly defined security reporting and incident mitigation process, </a:t>
            </a:r>
            <a:r>
              <a:rPr lang="en-US" dirty="0">
                <a:solidFill>
                  <a:srgbClr val="595959"/>
                </a:solidFill>
              </a:rPr>
              <a:t>as appropriate to the project’s risks</a:t>
            </a:r>
          </a:p>
          <a:p>
            <a:pPr marL="293688" indent="-285750">
              <a:spcAft>
                <a:spcPts val="400"/>
              </a:spcAft>
            </a:pPr>
            <a:r>
              <a:rPr lang="en-US" dirty="0">
                <a:solidFill>
                  <a:srgbClr val="FF9300"/>
                </a:solidFill>
              </a:rPr>
              <a:t>explicitly defined committer process</a:t>
            </a:r>
          </a:p>
          <a:p>
            <a:pPr marL="293688" indent="-285750">
              <a:spcAft>
                <a:spcPts val="400"/>
              </a:spcAft>
            </a:pPr>
            <a:r>
              <a:rPr lang="en-US" dirty="0">
                <a:solidFill>
                  <a:srgbClr val="FF9300"/>
                </a:solidFill>
              </a:rPr>
              <a:t>evidence of widespread adoption in the HPC ecosystem </a:t>
            </a:r>
            <a:r>
              <a:rPr lang="en-US" dirty="0">
                <a:solidFill>
                  <a:srgbClr val="595959"/>
                </a:solidFill>
              </a:rPr>
              <a:t>or some important component thereof</a:t>
            </a:r>
          </a:p>
        </p:txBody>
      </p:sp>
    </p:spTree>
    <p:extLst>
      <p:ext uri="{BB962C8B-B14F-4D97-AF65-F5344CB8AC3E}">
        <p14:creationId xmlns:p14="http://schemas.microsoft.com/office/powerpoint/2010/main" val="11164210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Thanks!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PSF 2024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50C61E"/>
      </a:accent1>
      <a:accent2>
        <a:srgbClr val="0D92FF"/>
      </a:accent2>
      <a:accent3>
        <a:srgbClr val="EF0303"/>
      </a:accent3>
      <a:accent4>
        <a:srgbClr val="C2D6EC"/>
      </a:accent4>
      <a:accent5>
        <a:srgbClr val="999999"/>
      </a:accent5>
      <a:accent6>
        <a:srgbClr val="CCCCCC"/>
      </a:accent6>
      <a:hlink>
        <a:srgbClr val="50C61E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317</TotalTime>
  <Words>1391</Words>
  <Application>Microsoft Macintosh PowerPoint</Application>
  <PresentationFormat>On-screen Show (16:9)</PresentationFormat>
  <Paragraphs>123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Open Sans</vt:lpstr>
      <vt:lpstr>Open Sans Medium</vt:lpstr>
      <vt:lpstr>Montserrat</vt:lpstr>
      <vt:lpstr>HPSF 2024</vt:lpstr>
      <vt:lpstr>Chapel TSC Meeting August 27, 2026</vt:lpstr>
      <vt:lpstr>Recap of past ~8 months</vt:lpstr>
      <vt:lpstr>When we last met (December 11, 2025)</vt:lpstr>
      <vt:lpstr>HPSF-related actions since then…</vt:lpstr>
      <vt:lpstr>Where has the time gone?</vt:lpstr>
      <vt:lpstr>What happens once funding ends?</vt:lpstr>
      <vt:lpstr>What about longer term?</vt:lpstr>
      <vt:lpstr>Adding new members to the TSC</vt:lpstr>
      <vt:lpstr>Accepting new TSC members</vt:lpstr>
      <vt:lpstr>Application Questions for TSC Candidates</vt:lpstr>
      <vt:lpstr>Things that would strengthen a TSC application</vt:lpstr>
      <vt:lpstr>Expectations of TSC Members</vt:lpstr>
      <vt:lpstr>Proposal</vt:lpstr>
      <vt:lpstr>Cadence of TSC Meetings Going Forward</vt:lpstr>
      <vt:lpstr>How often should we meet going forward?</vt:lpstr>
      <vt:lpstr>HPSF Core-Level Requirements</vt:lpstr>
      <vt:lpstr>Requirements for HPSF Core Level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Chamberlain, Brad</cp:lastModifiedBy>
  <cp:revision>166</cp:revision>
  <dcterms:modified xsi:type="dcterms:W3CDTF">2026-08-27T16:27:38Z</dcterms:modified>
</cp:coreProperties>
</file>